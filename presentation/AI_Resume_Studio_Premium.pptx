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45920"/>
            <a:ext cx="3657600" cy="508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83080"/>
            <a:ext cx="2286000" cy="25400"/>
          </a:xfrm>
          <a:prstGeom prst="rect">
            <a:avLst/>
          </a:prstGeom>
          <a:solidFill>
            <a:srgbClr val="0E7490"/>
          </a:solidFill>
          <a:ln>
            <a:noFill/>
          </a:ln>
          <a:effectLst>
            <a:glow rad="101600">
              <a:srgbClr val="0E749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0F172A"/>
                </a:solidFill>
                <a:latin typeface="Arial"/>
              </a:rPr>
              <a:t>AI RESUME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11680"/>
            <a:ext cx="10332720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E7490"/>
                </a:solidFill>
                <a:latin typeface="Arial"/>
              </a:rPr>
              <a:t>Bachelor In Computer Applications (BCA)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2926080"/>
            <a:ext cx="5943600" cy="32004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Project Title :  AI RESUME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Student Name :  Vansh Khandekar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Class        :  Bachelor In Computer Applications (BCA)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Guide Name   :  Prof. R.K. Sharma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College      :  JANAPRABHA COLLEGE, RAMTEK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rial"/>
              </a:rPr>
              <a:t>Date         :  April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Table of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1)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2) Problem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918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3) Objectives &amp; Design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4) Scope &amp; Constraints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5) System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212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6) 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011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7) Functional Modules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651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8) Database Design &amp; Data Modeling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2918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9) Implementation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10) 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572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11) Future Enhancements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5212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rial"/>
              </a:rPr>
              <a:t>12) References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1.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Modernizing the job application process with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400" b="0">
                <a:solidFill>
                  <a:srgbClr val="0F172A"/>
                </a:solidFill>
                <a:latin typeface="Arial"/>
              </a:rPr>
              <a:t>AI Resume Studio is a next-generation platform designed to help job seekers create highly competitive, ATS-optimized resumes. By integrating Large Language Models, the system provides intelligent content suggestions, real-time scoring, and high-fidelity PDF exports. It bridges the gap between raw professional experience and the sophisticated requirements of modern Applicant Tracking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Arial"/>
              </a:rPr>
              <a:t>✦  Modular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Arial"/>
              </a:rPr>
              <a:t>✦  Real-time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Arial"/>
              </a:rPr>
              <a:t>✦  AI-Powered Writing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Arial"/>
              </a:rPr>
              <a:t>✦  Cloud-Native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2. Problem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Why traditional resume building is broken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2560320"/>
            <a:ext cx="914400" cy="914400"/>
          </a:xfrm>
          <a:prstGeom prst="ellipse">
            <a:avLst/>
          </a:prstGeom>
          <a:solidFill>
            <a:srgbClr val="BE185D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Formatting Chaos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Word layouts break across
devices &amp; ATS parsers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06240" y="2560320"/>
            <a:ext cx="914400" cy="914400"/>
          </a:xfrm>
          <a:prstGeom prst="ellipse">
            <a:avLst/>
          </a:prstGeom>
          <a:solidFill>
            <a:srgbClr val="C2410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ATS Rejection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80% of resumes are rejected by
ATS before human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40880" y="2560320"/>
            <a:ext cx="914400" cy="914400"/>
          </a:xfrm>
          <a:prstGeom prst="ellipse">
            <a:avLst/>
          </a:prstGeom>
          <a:solidFill>
            <a:srgbClr val="6D28D9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Writer's Block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Candidates struggle to articulate
achievements professionally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28600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75520" y="2560320"/>
            <a:ext cx="914400" cy="914400"/>
          </a:xfrm>
          <a:prstGeom prst="ellipse">
            <a:avLst/>
          </a:prstGeom>
          <a:solidFill>
            <a:srgbClr val="0E749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Time Consuming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Manual formatting takes 3–5 hours
per resume 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3.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Designing a user-centric AI career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2560320"/>
            <a:ext cx="914400" cy="914400"/>
          </a:xfrm>
          <a:prstGeom prst="ellipse">
            <a:avLst/>
          </a:prstGeom>
          <a:solidFill>
            <a:srgbClr val="1E3A8A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ATS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100% compliance with
modern ranking algorithms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06240" y="2560320"/>
            <a:ext cx="914400" cy="914400"/>
          </a:xfrm>
          <a:prstGeom prst="ellipse">
            <a:avLst/>
          </a:prstGeom>
          <a:solidFill>
            <a:srgbClr val="0E749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AI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Leveraging LLMs for
smart content auditing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40880" y="2560320"/>
            <a:ext cx="914400" cy="914400"/>
          </a:xfrm>
          <a:prstGeom prst="ellipse">
            <a:avLst/>
          </a:prstGeom>
          <a:solidFill>
            <a:srgbClr val="15803D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UI/UX Excellence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Premium, interactive
resume builder interface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28600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75520" y="2560320"/>
            <a:ext cx="914400" cy="914400"/>
          </a:xfrm>
          <a:prstGeom prst="ellipse">
            <a:avLst/>
          </a:prstGeom>
          <a:solidFill>
            <a:srgbClr val="6D28D9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Seamless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Watermark-free, professional
PDF delivery in seconds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4. Scope &amp;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Defining project boundaries and limits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41148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3A8A"/>
                </a:solidFill>
                <a:latin typeface="Arial"/>
              </a:rPr>
              <a:t>🛠️ Project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Multi-template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Multi-section Builder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AI Summary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Keyword Optimization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Cloud Persistence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011680"/>
            <a:ext cx="5303520" cy="41148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2410C"/>
                </a:solidFill>
                <a:latin typeface="Arial"/>
              </a:rPr>
              <a:t>⚠️ 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Internet Dependency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API Token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Single Page 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English Language focus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Static Assets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5.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Cloud-native, three-tier scalable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2926080" cy="256032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2560320"/>
            <a:ext cx="914400" cy="914400"/>
          </a:xfrm>
          <a:prstGeom prst="ellipse">
            <a:avLst/>
          </a:prstGeom>
          <a:solidFill>
            <a:srgbClr val="1E3A8A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React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Optimistic state
Client-side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3200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4748B"/>
                </a:solidFill>
                <a:latin typeface="Arial"/>
              </a:rPr>
              <a:t>───▶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286000"/>
            <a:ext cx="2926080" cy="256032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86400" y="2560320"/>
            <a:ext cx="914400" cy="914400"/>
          </a:xfrm>
          <a:prstGeom prst="ellipse">
            <a:avLst/>
          </a:prstGeom>
          <a:solidFill>
            <a:srgbClr val="0E749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34747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API Gateway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931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Deno Edge Functions
Claude-3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3200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4748B"/>
                </a:solidFill>
                <a:latin typeface="Arial"/>
              </a:rPr>
              <a:t>───▶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286000"/>
            <a:ext cx="2926080" cy="256032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0" y="2560320"/>
            <a:ext cx="914400" cy="914400"/>
          </a:xfrm>
          <a:prstGeom prst="ellipse">
            <a:avLst/>
          </a:prstGeom>
          <a:solidFill>
            <a:srgbClr val="15803D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🗄️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34747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Supabase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931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PostgreSQL JSONB
Row Level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6. 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Built with modern, production-grade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Arial"/>
              </a:rPr>
              <a:t>⚛️ 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React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37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TypeScript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Vite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Tailwind CSS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Shadcn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983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Lucide Icons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94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490"/>
                </a:solidFill>
                <a:latin typeface="Arial"/>
              </a:rPr>
              <a:t>⚙️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926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Supabase (Postgres)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337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Edge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749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Claude-3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160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JWT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PostgreSQL JSONB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01168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2194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D28D9"/>
                </a:solidFill>
                <a:latin typeface="Arial"/>
              </a:rPr>
              <a:t>🛠️ DEPLOYMENT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926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Git &amp; GitHub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337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Vercel CI/CD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749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ESLint + Prettier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60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React Query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Arial"/>
              </a:rPr>
              <a:t>▸ jsPDF Export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7. Functional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Core system capabilities and 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210312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34640" y="2377440"/>
            <a:ext cx="914400" cy="914400"/>
          </a:xfrm>
          <a:prstGeom prst="ellipse">
            <a:avLst/>
          </a:prstGeom>
          <a:solidFill>
            <a:srgbClr val="1E3A8A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AI Content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749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LLM-driven rewriting
and professional auditing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10312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9440" y="2377440"/>
            <a:ext cx="914400" cy="914400"/>
          </a:xfrm>
          <a:prstGeom prst="ellipse">
            <a:avLst/>
          </a:prstGeom>
          <a:solidFill>
            <a:srgbClr val="0E749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ATS Scoring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749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Real-time ranking heuristics
and keyword analysis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438912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34640" y="4663440"/>
            <a:ext cx="914400" cy="914400"/>
          </a:xfrm>
          <a:prstGeom prst="ellipse">
            <a:avLst/>
          </a:prstGeom>
          <a:solidFill>
            <a:srgbClr val="C2410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5577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Modular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6035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Dynamic form builder with
document state persistence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389120"/>
            <a:ext cx="2560320" cy="22860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49440" y="4663440"/>
            <a:ext cx="914400" cy="914400"/>
          </a:xfrm>
          <a:prstGeom prst="ellipse">
            <a:avLst/>
          </a:prstGeom>
          <a:solidFill>
            <a:srgbClr val="15803D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577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PDF Generator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6035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One-click, high-fidelity
export with typography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8. Database &amp; Data Modeling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Schema integrity and JSONB data persistence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1148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3A8A"/>
                </a:solidFill>
                <a:latin typeface="Arial"/>
              </a:rPr>
              <a:t>• Profiles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560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User authentication and baseline metadata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3A8A"/>
                </a:solidFill>
                <a:latin typeface="Arial"/>
              </a:rPr>
              <a:t>• Resumes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2918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The core entity storing resume JSONB structures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23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3A8A"/>
                </a:solidFill>
                <a:latin typeface="Arial"/>
              </a:rPr>
              <a:t>• Sections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023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Dynamic section configurations and visibility flags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3A8A"/>
                </a:solidFill>
                <a:latin typeface="Arial"/>
              </a:rPr>
              <a:t>• Audit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▸ Tracking AI credit usage and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9. Implementation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Iterative development and deployment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2286000" cy="219456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34440" y="2514600"/>
            <a:ext cx="731520" cy="73152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Database schema setup &amp;
Authentication layer init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286000" cy="219456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160520" y="2514600"/>
            <a:ext cx="731520" cy="73152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Core Builder UI &amp; State Management
with React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286000"/>
            <a:ext cx="2286000" cy="219456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86600" y="2514600"/>
            <a:ext cx="731520" cy="73152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Phase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490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AI Edge Functions &amp;
Gemini API Integration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286000"/>
            <a:ext cx="2286000" cy="219456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12680" y="2514600"/>
            <a:ext cx="731520" cy="7315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Phase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37490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PDF Export Engine &amp;
Final UAT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10. Product Outputs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Glimpse of the final application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5669280" cy="41148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5303520" cy="37490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09360" y="1828800"/>
            <a:ext cx="5669280" cy="411480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view_m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011680"/>
            <a:ext cx="5303520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11. Future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Expanding the horizons of AI career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743200"/>
            <a:ext cx="2651760" cy="237744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3017520"/>
            <a:ext cx="914400" cy="914400"/>
          </a:xfrm>
          <a:prstGeom prst="ellipse">
            <a:avLst/>
          </a:prstGeom>
          <a:solidFill>
            <a:srgbClr val="1E3A8A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LinkedIn Import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891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One-click data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743200"/>
            <a:ext cx="2651760" cy="237744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114800" y="3017520"/>
            <a:ext cx="914400" cy="914400"/>
          </a:xfrm>
          <a:prstGeom prst="ellipse">
            <a:avLst/>
          </a:prstGeom>
          <a:solidFill>
            <a:srgbClr val="0E749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✉️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Cover Letters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3891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Auto-Gen per Job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743200"/>
            <a:ext cx="2651760" cy="237744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40880" y="3017520"/>
            <a:ext cx="914400" cy="914400"/>
          </a:xfrm>
          <a:prstGeom prst="ellipse">
            <a:avLst/>
          </a:prstGeom>
          <a:solidFill>
            <a:srgbClr val="6D28D9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Custom Themes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3891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CSS-level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2743200"/>
            <a:ext cx="2651760" cy="2377440"/>
          </a:xfrm>
          <a:prstGeom prst="roundRect">
            <a:avLst>
              <a:gd name="adj" fmla="val 5000"/>
            </a:avLst>
          </a:prstGeom>
          <a:solidFill>
            <a:srgbClr val="F8FAFC">
              <a:alpha val="98000"/>
            </a:srgbClr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966960" y="3017520"/>
            <a:ext cx="914400" cy="914400"/>
          </a:xfrm>
          <a:prstGeom prst="ellipse">
            <a:avLst/>
          </a:prstGeom>
          <a:solidFill>
            <a:srgbClr val="15803D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800"/>
              </a:spcBef>
            </a:pPr>
            <a:r>
              <a:rPr sz="3200" b="1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Job Submission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43891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Direct ATS upload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Arial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• React Documentation (react.dev) — Component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• Supabase Auth &amp; DB (supabase.com) — Backend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• Anthropic Claude 3 Opus API — AI content generation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• Tailwind CSS — Utility-first styling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• 'Building Resumes with AI' (Medium 2024) — ATS Heuristics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486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rial"/>
              </a:rPr>
              <a:t>• GitHub: AI Resume Studio Open Source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2286000"/>
            <a:ext cx="3931920" cy="508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glow rad="101600">
              <a:srgbClr val="1E3A8A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0F172A"/>
                </a:solidFill>
                <a:latin typeface="Arial"/>
              </a:rP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1E3A8A"/>
                </a:solidFill>
                <a:latin typeface="Arial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389120"/>
            <a:ext cx="2103120" cy="25400"/>
          </a:xfrm>
          <a:prstGeom prst="rect">
            <a:avLst/>
          </a:prstGeom>
          <a:solidFill>
            <a:srgbClr val="0E7490"/>
          </a:solidFill>
          <a:ln>
            <a:noFill/>
          </a:ln>
          <a:effectLst>
            <a:glow rad="101600">
              <a:srgbClr val="0E749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Arial"/>
              </a:rPr>
              <a:t>Vansh Khandekar  •  Bachelor In Computer Applications (BCA)  •  2025–26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rial"/>
              </a:rPr>
              <a:t>Built with React • TypeScript • Gemini AI • Supabase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